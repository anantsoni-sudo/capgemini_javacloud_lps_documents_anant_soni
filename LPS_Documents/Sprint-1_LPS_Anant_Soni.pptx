
<file path=[Content_Types].xml><?xml version="1.0" encoding="utf-8"?>
<Types xmlns="http://schemas.openxmlformats.org/package/2006/content-types">
  <Default Extension="jfif" ContentType="image/jpeg"/>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66" r:id="rId3"/>
    <p:sldId id="258" r:id="rId4"/>
    <p:sldId id="267" r:id="rId5"/>
    <p:sldId id="259" r:id="rId6"/>
    <p:sldId id="260" r:id="rId7"/>
    <p:sldId id="261" r:id="rId8"/>
    <p:sldId id="262" r:id="rId9"/>
    <p:sldId id="263" r:id="rId10"/>
    <p:sldId id="264" r:id="rId11"/>
    <p:sldId id="265" r:id="rId12"/>
    <p:sldId id="268"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0DFDD5A-B3D2-4E7E-93DA-47E5775FEF64}" type="datetimeFigureOut">
              <a:rPr lang="en-IN" smtClean="0"/>
              <a:t>07-06-2020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761D4F-7A79-4D40-92AF-E480E0AF7590}" type="slidenum">
              <a:rPr lang="en-IN" smtClean="0"/>
              <a:t>‹#›</a:t>
            </a:fld>
            <a:endParaRPr lang="en-IN"/>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69644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DFDD5A-B3D2-4E7E-93DA-47E5775FEF64}" type="datetimeFigureOut">
              <a:rPr lang="en-IN" smtClean="0"/>
              <a:t>07-06-2020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761D4F-7A79-4D40-92AF-E480E0AF7590}" type="slidenum">
              <a:rPr lang="en-IN" smtClean="0"/>
              <a:t>‹#›</a:t>
            </a:fld>
            <a:endParaRPr lang="en-IN"/>
          </a:p>
        </p:txBody>
      </p:sp>
    </p:spTree>
    <p:extLst>
      <p:ext uri="{BB962C8B-B14F-4D97-AF65-F5344CB8AC3E}">
        <p14:creationId xmlns:p14="http://schemas.microsoft.com/office/powerpoint/2010/main" val="3491055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0DFDD5A-B3D2-4E7E-93DA-47E5775FEF64}" type="datetimeFigureOut">
              <a:rPr lang="en-IN" smtClean="0"/>
              <a:t>07-06-2020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761D4F-7A79-4D40-92AF-E480E0AF7590}" type="slidenum">
              <a:rPr lang="en-IN" smtClean="0"/>
              <a:t>‹#›</a:t>
            </a:fld>
            <a:endParaRPr lang="en-IN"/>
          </a:p>
        </p:txBody>
      </p:sp>
    </p:spTree>
    <p:extLst>
      <p:ext uri="{BB962C8B-B14F-4D97-AF65-F5344CB8AC3E}">
        <p14:creationId xmlns:p14="http://schemas.microsoft.com/office/powerpoint/2010/main" val="16769836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0DFDD5A-B3D2-4E7E-93DA-47E5775FEF64}" type="datetimeFigureOut">
              <a:rPr lang="en-IN" smtClean="0"/>
              <a:t>07-06-2020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8761D4F-7A79-4D40-92AF-E480E0AF7590}" type="slidenum">
              <a:rPr lang="en-IN" smtClean="0"/>
              <a:t>‹#›</a:t>
            </a:fld>
            <a:endParaRPr lang="en-IN"/>
          </a:p>
        </p:txBody>
      </p:sp>
    </p:spTree>
    <p:extLst>
      <p:ext uri="{BB962C8B-B14F-4D97-AF65-F5344CB8AC3E}">
        <p14:creationId xmlns:p14="http://schemas.microsoft.com/office/powerpoint/2010/main" val="509505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0DFDD5A-B3D2-4E7E-93DA-47E5775FEF64}" type="datetimeFigureOut">
              <a:rPr lang="en-IN" smtClean="0"/>
              <a:t>07-06-2020</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8761D4F-7A79-4D40-92AF-E480E0AF7590}" type="slidenum">
              <a:rPr lang="en-IN" smtClean="0"/>
              <a:t>‹#›</a:t>
            </a:fld>
            <a:endParaRPr lang="en-IN"/>
          </a:p>
        </p:txBody>
      </p:sp>
    </p:spTree>
    <p:extLst>
      <p:ext uri="{BB962C8B-B14F-4D97-AF65-F5344CB8AC3E}">
        <p14:creationId xmlns:p14="http://schemas.microsoft.com/office/powerpoint/2010/main" val="1371752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0DFDD5A-B3D2-4E7E-93DA-47E5775FEF64}" type="datetimeFigureOut">
              <a:rPr lang="en-IN" smtClean="0"/>
              <a:t>07-06-2020</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8761D4F-7A79-4D40-92AF-E480E0AF7590}" type="slidenum">
              <a:rPr lang="en-IN" smtClean="0"/>
              <a:t>‹#›</a:t>
            </a:fld>
            <a:endParaRPr lang="en-IN"/>
          </a:p>
        </p:txBody>
      </p:sp>
    </p:spTree>
    <p:extLst>
      <p:ext uri="{BB962C8B-B14F-4D97-AF65-F5344CB8AC3E}">
        <p14:creationId xmlns:p14="http://schemas.microsoft.com/office/powerpoint/2010/main" val="15089349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0DFDD5A-B3D2-4E7E-93DA-47E5775FEF64}" type="datetimeFigureOut">
              <a:rPr lang="en-IN" smtClean="0"/>
              <a:t>07-06-2020</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8761D4F-7A79-4D40-92AF-E480E0AF7590}" type="slidenum">
              <a:rPr lang="en-IN" smtClean="0"/>
              <a:t>‹#›</a:t>
            </a:fld>
            <a:endParaRPr lang="en-IN"/>
          </a:p>
        </p:txBody>
      </p:sp>
    </p:spTree>
    <p:extLst>
      <p:ext uri="{BB962C8B-B14F-4D97-AF65-F5344CB8AC3E}">
        <p14:creationId xmlns:p14="http://schemas.microsoft.com/office/powerpoint/2010/main" val="27249416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0DFDD5A-B3D2-4E7E-93DA-47E5775FEF64}" type="datetimeFigureOut">
              <a:rPr lang="en-IN" smtClean="0"/>
              <a:t>07-06-2020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8761D4F-7A79-4D40-92AF-E480E0AF7590}" type="slidenum">
              <a:rPr lang="en-IN" smtClean="0"/>
              <a:t>‹#›</a:t>
            </a:fld>
            <a:endParaRPr lang="en-IN"/>
          </a:p>
        </p:txBody>
      </p:sp>
    </p:spTree>
    <p:extLst>
      <p:ext uri="{BB962C8B-B14F-4D97-AF65-F5344CB8AC3E}">
        <p14:creationId xmlns:p14="http://schemas.microsoft.com/office/powerpoint/2010/main" val="2582660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0DFDD5A-B3D2-4E7E-93DA-47E5775FEF64}" type="datetimeFigureOut">
              <a:rPr lang="en-IN" smtClean="0"/>
              <a:t>07-06-2020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8761D4F-7A79-4D40-92AF-E480E0AF7590}" type="slidenum">
              <a:rPr lang="en-IN" smtClean="0"/>
              <a:t>‹#›</a:t>
            </a:fld>
            <a:endParaRPr lang="en-IN"/>
          </a:p>
        </p:txBody>
      </p:sp>
    </p:spTree>
    <p:extLst>
      <p:ext uri="{BB962C8B-B14F-4D97-AF65-F5344CB8AC3E}">
        <p14:creationId xmlns:p14="http://schemas.microsoft.com/office/powerpoint/2010/main" val="4832405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C0DFDD5A-B3D2-4E7E-93DA-47E5775FEF64}" type="datetimeFigureOut">
              <a:rPr lang="en-IN" smtClean="0"/>
              <a:t>07-06-2020</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8761D4F-7A79-4D40-92AF-E480E0AF7590}" type="slidenum">
              <a:rPr lang="en-IN" smtClean="0"/>
              <a:t>‹#›</a:t>
            </a:fld>
            <a:endParaRPr lang="en-IN"/>
          </a:p>
        </p:txBody>
      </p:sp>
    </p:spTree>
    <p:extLst>
      <p:ext uri="{BB962C8B-B14F-4D97-AF65-F5344CB8AC3E}">
        <p14:creationId xmlns:p14="http://schemas.microsoft.com/office/powerpoint/2010/main" val="2422339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0DFDD5A-B3D2-4E7E-93DA-47E5775FEF64}" type="datetimeFigureOut">
              <a:rPr lang="en-IN" smtClean="0"/>
              <a:t>07-06-2020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761D4F-7A79-4D40-92AF-E480E0AF7590}" type="slidenum">
              <a:rPr lang="en-IN" smtClean="0"/>
              <a:t>‹#›</a:t>
            </a:fld>
            <a:endParaRPr lang="en-IN"/>
          </a:p>
        </p:txBody>
      </p:sp>
    </p:spTree>
    <p:extLst>
      <p:ext uri="{BB962C8B-B14F-4D97-AF65-F5344CB8AC3E}">
        <p14:creationId xmlns:p14="http://schemas.microsoft.com/office/powerpoint/2010/main" val="17387698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0DFDD5A-B3D2-4E7E-93DA-47E5775FEF64}" type="datetimeFigureOut">
              <a:rPr lang="en-IN" smtClean="0"/>
              <a:t>07-06-2020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761D4F-7A79-4D40-92AF-E480E0AF7590}" type="slidenum">
              <a:rPr lang="en-IN" smtClean="0"/>
              <a:t>‹#›</a:t>
            </a:fld>
            <a:endParaRPr lang="en-IN"/>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047826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0DFDD5A-B3D2-4E7E-93DA-47E5775FEF64}" type="datetimeFigureOut">
              <a:rPr lang="en-IN" smtClean="0"/>
              <a:t>07-06-2020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761D4F-7A79-4D40-92AF-E480E0AF7590}" type="slidenum">
              <a:rPr lang="en-IN" smtClean="0"/>
              <a:t>‹#›</a:t>
            </a:fld>
            <a:endParaRPr lang="en-IN"/>
          </a:p>
        </p:txBody>
      </p:sp>
    </p:spTree>
    <p:extLst>
      <p:ext uri="{BB962C8B-B14F-4D97-AF65-F5344CB8AC3E}">
        <p14:creationId xmlns:p14="http://schemas.microsoft.com/office/powerpoint/2010/main" val="13839366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0DFDD5A-B3D2-4E7E-93DA-47E5775FEF64}" type="datetimeFigureOut">
              <a:rPr lang="en-IN" smtClean="0"/>
              <a:t>07-06-2020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761D4F-7A79-4D40-92AF-E480E0AF7590}" type="slidenum">
              <a:rPr lang="en-IN" smtClean="0"/>
              <a:t>‹#›</a:t>
            </a:fld>
            <a:endParaRPr lang="en-IN"/>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5890697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0DFDD5A-B3D2-4E7E-93DA-47E5775FEF64}" type="datetimeFigureOut">
              <a:rPr lang="en-IN" smtClean="0"/>
              <a:t>07-06-2020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761D4F-7A79-4D40-92AF-E480E0AF7590}" type="slidenum">
              <a:rPr lang="en-IN" smtClean="0"/>
              <a:t>‹#›</a:t>
            </a:fld>
            <a:endParaRPr lang="en-IN"/>
          </a:p>
        </p:txBody>
      </p:sp>
    </p:spTree>
    <p:extLst>
      <p:ext uri="{BB962C8B-B14F-4D97-AF65-F5344CB8AC3E}">
        <p14:creationId xmlns:p14="http://schemas.microsoft.com/office/powerpoint/2010/main" val="12176843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DFDD5A-B3D2-4E7E-93DA-47E5775FEF64}" type="datetimeFigureOut">
              <a:rPr lang="en-IN" smtClean="0"/>
              <a:t>07-06-2020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761D4F-7A79-4D40-92AF-E480E0AF7590}" type="slidenum">
              <a:rPr lang="en-IN" smtClean="0"/>
              <a:t>‹#›</a:t>
            </a:fld>
            <a:endParaRPr lang="en-IN"/>
          </a:p>
        </p:txBody>
      </p:sp>
    </p:spTree>
    <p:extLst>
      <p:ext uri="{BB962C8B-B14F-4D97-AF65-F5344CB8AC3E}">
        <p14:creationId xmlns:p14="http://schemas.microsoft.com/office/powerpoint/2010/main" val="5467307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DFDD5A-B3D2-4E7E-93DA-47E5775FEF64}" type="datetimeFigureOut">
              <a:rPr lang="en-IN" smtClean="0"/>
              <a:t>07-06-2020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761D4F-7A79-4D40-92AF-E480E0AF7590}" type="slidenum">
              <a:rPr lang="en-IN" smtClean="0"/>
              <a:t>‹#›</a:t>
            </a:fld>
            <a:endParaRPr lang="en-IN"/>
          </a:p>
        </p:txBody>
      </p:sp>
    </p:spTree>
    <p:extLst>
      <p:ext uri="{BB962C8B-B14F-4D97-AF65-F5344CB8AC3E}">
        <p14:creationId xmlns:p14="http://schemas.microsoft.com/office/powerpoint/2010/main" val="8363122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C0DFDD5A-B3D2-4E7E-93DA-47E5775FEF64}" type="datetimeFigureOut">
              <a:rPr lang="en-IN" smtClean="0"/>
              <a:t>07-06-2020</a:t>
            </a:fld>
            <a:endParaRPr lang="en-IN"/>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IN"/>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B8761D4F-7A79-4D40-92AF-E480E0AF7590}" type="slidenum">
              <a:rPr lang="en-IN" smtClean="0"/>
              <a:t>‹#›</a:t>
            </a:fld>
            <a:endParaRPr lang="en-IN"/>
          </a:p>
        </p:txBody>
      </p:sp>
    </p:spTree>
    <p:extLst>
      <p:ext uri="{BB962C8B-B14F-4D97-AF65-F5344CB8AC3E}">
        <p14:creationId xmlns:p14="http://schemas.microsoft.com/office/powerpoint/2010/main" val="2989736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f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95500" y="457199"/>
            <a:ext cx="8001000" cy="2971801"/>
          </a:xfrm>
        </p:spPr>
        <p:txBody>
          <a:bodyPr>
            <a:normAutofit/>
          </a:bodyPr>
          <a:lstStyle/>
          <a:p>
            <a:pPr algn="ctr"/>
            <a:r>
              <a:rPr lang="en-US" dirty="0">
                <a:latin typeface="Times New Roman" panose="02020603050405020304" pitchFamily="18" charset="0"/>
                <a:cs typeface="Times New Roman" panose="02020603050405020304" pitchFamily="18" charset="0"/>
              </a:rPr>
              <a:t>WELCOME TO LOAN PROCESSING SYSTEM</a:t>
            </a:r>
          </a:p>
        </p:txBody>
      </p:sp>
      <p:pic>
        <p:nvPicPr>
          <p:cNvPr id="5" name="Picture 4">
            <a:extLst>
              <a:ext uri="{FF2B5EF4-FFF2-40B4-BE49-F238E27FC236}">
                <a16:creationId xmlns:a16="http://schemas.microsoft.com/office/drawing/2014/main" id="{85B2A642-8C5F-4ECB-BF5B-E7EB79A0C6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3462" y="3764902"/>
            <a:ext cx="2505075" cy="18288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6386475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1886" y="176589"/>
            <a:ext cx="9050694" cy="1507067"/>
          </a:xfrm>
        </p:spPr>
        <p:txBody>
          <a:bodyPr/>
          <a:lstStyle/>
          <a:p>
            <a:r>
              <a:rPr lang="en-US" dirty="0">
                <a:latin typeface="Times New Roman" panose="02020603050405020304" pitchFamily="18" charset="0"/>
                <a:cs typeface="Times New Roman" panose="02020603050405020304" pitchFamily="18" charset="0"/>
              </a:rPr>
              <a:t>Contents</a:t>
            </a:r>
          </a:p>
        </p:txBody>
      </p:sp>
      <p:sp>
        <p:nvSpPr>
          <p:cNvPr id="3" name="Content Placeholder 2"/>
          <p:cNvSpPr>
            <a:spLocks noGrp="1"/>
          </p:cNvSpPr>
          <p:nvPr>
            <p:ph idx="1"/>
          </p:nvPr>
        </p:nvSpPr>
        <p:spPr>
          <a:xfrm>
            <a:off x="457200" y="1810138"/>
            <a:ext cx="7052388" cy="3937616"/>
          </a:xfrm>
        </p:spPr>
        <p:txBody>
          <a:bodyPr>
            <a:noAutofit/>
          </a:bodyPr>
          <a:lstStyle/>
          <a:p>
            <a:pPr marL="0" indent="0">
              <a:buNone/>
            </a:pPr>
            <a:endParaRPr lang="en-US" sz="2400"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Project Objectives</a:t>
            </a:r>
          </a:p>
          <a:p>
            <a:pPr>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Problem Statement</a:t>
            </a:r>
          </a:p>
          <a:p>
            <a:pPr>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Modules</a:t>
            </a:r>
          </a:p>
          <a:p>
            <a:pPr>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Project Work Flow</a:t>
            </a:r>
          </a:p>
          <a:p>
            <a:pPr>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Technologies Used</a:t>
            </a:r>
          </a:p>
          <a:p>
            <a:pPr>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22821717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0278" y="0"/>
            <a:ext cx="8534400" cy="1507067"/>
          </a:xfrm>
        </p:spPr>
        <p:txBody>
          <a:bodyPr/>
          <a:lstStyle/>
          <a:p>
            <a:r>
              <a:rPr lang="en-US" dirty="0">
                <a:latin typeface="Times New Roman" panose="02020603050405020304" pitchFamily="18" charset="0"/>
                <a:cs typeface="Times New Roman" panose="02020603050405020304" pitchFamily="18" charset="0"/>
              </a:rPr>
              <a:t>Objective</a:t>
            </a:r>
            <a:endParaRPr lang="en-US" dirty="0"/>
          </a:p>
        </p:txBody>
      </p:sp>
      <p:sp>
        <p:nvSpPr>
          <p:cNvPr id="3" name="Content Placeholder 2"/>
          <p:cNvSpPr>
            <a:spLocks noGrp="1"/>
          </p:cNvSpPr>
          <p:nvPr>
            <p:ph idx="1"/>
          </p:nvPr>
        </p:nvSpPr>
        <p:spPr>
          <a:xfrm>
            <a:off x="460278" y="1507067"/>
            <a:ext cx="11271444" cy="4333896"/>
          </a:xfrm>
        </p:spPr>
        <p:txBody>
          <a:bodyPr>
            <a:normAutofit/>
          </a:bodyPr>
          <a:lstStyle/>
          <a:p>
            <a:pPr>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General Objective :To automate the process of Loan Processing       System &amp; Management &amp; hence minimize errors resulting from manual system operations </a:t>
            </a:r>
          </a:p>
          <a:p>
            <a:pPr>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 Special Objective : To develop distinguished institutions and organize         loan management. </a:t>
            </a:r>
          </a:p>
          <a:p>
            <a:pPr>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There are many goals and focus: </a:t>
            </a:r>
          </a:p>
          <a:p>
            <a:pPr marL="0" indent="0">
              <a:buNone/>
            </a:pPr>
            <a:r>
              <a:rPr lang="en-US" sz="2400" dirty="0">
                <a:solidFill>
                  <a:schemeClr val="tx1"/>
                </a:solidFill>
                <a:latin typeface="Times New Roman" panose="02020603050405020304" pitchFamily="18" charset="0"/>
                <a:cs typeface="Times New Roman" panose="02020603050405020304" pitchFamily="18" charset="0"/>
              </a:rPr>
              <a:t>	1.Saving time and effort.</a:t>
            </a:r>
          </a:p>
          <a:p>
            <a:pPr marL="0" indent="0">
              <a:buNone/>
            </a:pPr>
            <a:r>
              <a:rPr lang="en-US" sz="2400" dirty="0">
                <a:solidFill>
                  <a:schemeClr val="tx1"/>
                </a:solidFill>
                <a:latin typeface="Times New Roman" panose="02020603050405020304" pitchFamily="18" charset="0"/>
                <a:cs typeface="Times New Roman" panose="02020603050405020304" pitchFamily="18" charset="0"/>
              </a:rPr>
              <a:t>	2.Eliminate the use of paperwork for transactions.</a:t>
            </a:r>
          </a:p>
          <a:p>
            <a:pPr marL="0" indent="0">
              <a:buNone/>
            </a:pPr>
            <a:r>
              <a:rPr lang="en-US" sz="2400" dirty="0">
                <a:solidFill>
                  <a:schemeClr val="tx1"/>
                </a:solidFill>
                <a:latin typeface="Times New Roman" panose="02020603050405020304" pitchFamily="18" charset="0"/>
                <a:cs typeface="Times New Roman" panose="02020603050405020304" pitchFamily="18" charset="0"/>
              </a:rPr>
              <a:t>	3.Customer's vision towards the organization.</a:t>
            </a:r>
          </a:p>
          <a:p>
            <a:endParaRPr lang="en-US" sz="2400" dirty="0">
              <a:solidFill>
                <a:schemeClr val="tx1"/>
              </a:solidFill>
            </a:endParaRPr>
          </a:p>
        </p:txBody>
      </p:sp>
    </p:spTree>
    <p:extLst>
      <p:ext uri="{BB962C8B-B14F-4D97-AF65-F5344CB8AC3E}">
        <p14:creationId xmlns:p14="http://schemas.microsoft.com/office/powerpoint/2010/main" val="42565203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8939" y="195250"/>
            <a:ext cx="5138090" cy="1507067"/>
          </a:xfrm>
        </p:spPr>
        <p:txBody>
          <a:bodyPr/>
          <a:lstStyle/>
          <a:p>
            <a:r>
              <a:rPr lang="en-US" dirty="0">
                <a:latin typeface="Times New Roman" panose="02020603050405020304" pitchFamily="18" charset="0"/>
                <a:cs typeface="Times New Roman" panose="02020603050405020304" pitchFamily="18" charset="0"/>
              </a:rPr>
              <a:t>Problem Statement</a:t>
            </a:r>
            <a:endParaRPr lang="en-US" dirty="0"/>
          </a:p>
        </p:txBody>
      </p:sp>
      <p:sp>
        <p:nvSpPr>
          <p:cNvPr id="3" name="Content Placeholder 2"/>
          <p:cNvSpPr>
            <a:spLocks noGrp="1"/>
          </p:cNvSpPr>
          <p:nvPr>
            <p:ph idx="1"/>
          </p:nvPr>
        </p:nvSpPr>
        <p:spPr>
          <a:xfrm>
            <a:off x="478939" y="1702316"/>
            <a:ext cx="11025706" cy="4474549"/>
          </a:xfrm>
        </p:spPr>
        <p:txBody>
          <a:bodyPr>
            <a:normAutofit/>
          </a:bodyPr>
          <a:lstStyle/>
          <a:p>
            <a:pPr algn="just">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Most loan providers still use the old fashion, where they record all the details on the papers. No online service. When a customer wants to know the remaining amount, he needs to go to in person or contact the provider. Then, the provider representative has to review the customer details manually and calculate the remaining amount. Unfortunately, this method is a waste of time, inaccurate and inefficient. </a:t>
            </a:r>
          </a:p>
          <a:p>
            <a:pPr algn="just">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Loan Processing System Application Development is an application where Customer can apply loan , access loan information, and interact with the loan providers through this application.</a:t>
            </a:r>
          </a:p>
          <a:p>
            <a:endParaRPr lang="en-US" sz="2400" dirty="0">
              <a:solidFill>
                <a:schemeClr val="tx1"/>
              </a:solidFill>
            </a:endParaRPr>
          </a:p>
        </p:txBody>
      </p:sp>
    </p:spTree>
    <p:extLst>
      <p:ext uri="{BB962C8B-B14F-4D97-AF65-F5344CB8AC3E}">
        <p14:creationId xmlns:p14="http://schemas.microsoft.com/office/powerpoint/2010/main" val="23632148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6449" y="279226"/>
            <a:ext cx="7837714" cy="1507067"/>
          </a:xfrm>
        </p:spPr>
        <p:txBody>
          <a:bodyPr/>
          <a:lstStyle/>
          <a:p>
            <a:r>
              <a:rPr lang="en-US" dirty="0">
                <a:latin typeface="Times New Roman" panose="02020603050405020304" pitchFamily="18" charset="0"/>
                <a:cs typeface="Times New Roman" panose="02020603050405020304" pitchFamily="18" charset="0"/>
              </a:rPr>
              <a:t>Modules</a:t>
            </a:r>
          </a:p>
        </p:txBody>
      </p:sp>
      <p:sp>
        <p:nvSpPr>
          <p:cNvPr id="3" name="Content Placeholder 2"/>
          <p:cNvSpPr>
            <a:spLocks noGrp="1"/>
          </p:cNvSpPr>
          <p:nvPr>
            <p:ph idx="1"/>
          </p:nvPr>
        </p:nvSpPr>
        <p:spPr>
          <a:xfrm>
            <a:off x="838200" y="1614115"/>
            <a:ext cx="10515600" cy="4562848"/>
          </a:xfrm>
        </p:spPr>
        <p:txBody>
          <a:bodyPr>
            <a:normAutofit/>
          </a:bodyPr>
          <a:lstStyle/>
          <a:p>
            <a:pPr marL="0" indent="0">
              <a:buNone/>
            </a:pPr>
            <a:r>
              <a:rPr lang="en-US" sz="2400" dirty="0">
                <a:solidFill>
                  <a:schemeClr val="tx1"/>
                </a:solidFill>
                <a:latin typeface="Times New Roman" panose="02020603050405020304" pitchFamily="18" charset="0"/>
                <a:cs typeface="Times New Roman" panose="02020603050405020304" pitchFamily="18" charset="0"/>
              </a:rPr>
              <a:t>There are basically 3 types of users:</a:t>
            </a:r>
          </a:p>
          <a:p>
            <a:pPr>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Admin  </a:t>
            </a:r>
          </a:p>
          <a:p>
            <a:pPr>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Customer</a:t>
            </a:r>
          </a:p>
          <a:p>
            <a:pPr>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Client</a:t>
            </a:r>
          </a:p>
          <a:p>
            <a:pPr marL="0" indent="0">
              <a:buNone/>
            </a:pPr>
            <a:endParaRPr lang="en-US" sz="2400" dirty="0">
              <a:solidFill>
                <a:schemeClr val="tx1"/>
              </a:solidFill>
            </a:endParaRPr>
          </a:p>
        </p:txBody>
      </p:sp>
    </p:spTree>
    <p:extLst>
      <p:ext uri="{BB962C8B-B14F-4D97-AF65-F5344CB8AC3E}">
        <p14:creationId xmlns:p14="http://schemas.microsoft.com/office/powerpoint/2010/main" val="29783888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926592"/>
          </a:xfrm>
        </p:spPr>
        <p:txBody>
          <a:bodyPr/>
          <a:lstStyle/>
          <a:p>
            <a:r>
              <a:rPr lang="en-US" dirty="0">
                <a:latin typeface="Times New Roman" panose="02020603050405020304" pitchFamily="18" charset="0"/>
                <a:cs typeface="Times New Roman" panose="02020603050405020304" pitchFamily="18" charset="0"/>
              </a:rPr>
              <a:t>Admin</a:t>
            </a:r>
          </a:p>
        </p:txBody>
      </p:sp>
      <p:sp>
        <p:nvSpPr>
          <p:cNvPr id="3" name="Content Placeholder 2"/>
          <p:cNvSpPr>
            <a:spLocks noGrp="1"/>
          </p:cNvSpPr>
          <p:nvPr>
            <p:ph idx="1"/>
          </p:nvPr>
        </p:nvSpPr>
        <p:spPr>
          <a:xfrm>
            <a:off x="677333" y="1691641"/>
            <a:ext cx="11004593" cy="4349722"/>
          </a:xfrm>
        </p:spPr>
        <p:txBody>
          <a:bodyPr>
            <a:normAutofit/>
          </a:bodyPr>
          <a:lstStyle/>
          <a:p>
            <a:pPr marL="0" indent="0">
              <a:buNone/>
            </a:pPr>
            <a:r>
              <a:rPr lang="en-US" dirty="0">
                <a:solidFill>
                  <a:schemeClr val="tx1"/>
                </a:solidFill>
                <a:latin typeface="Times New Roman" panose="02020603050405020304" pitchFamily="18" charset="0"/>
                <a:cs typeface="Times New Roman" panose="02020603050405020304" pitchFamily="18" charset="0"/>
              </a:rPr>
              <a:t>The administrators will be able to perform following functionalities :</a:t>
            </a:r>
          </a:p>
          <a:p>
            <a:pPr>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 Login to the system using his/her credentials. </a:t>
            </a:r>
          </a:p>
          <a:p>
            <a:pPr>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Add or delete information of the loan programs offer by the home finance provider. </a:t>
            </a:r>
          </a:p>
          <a:p>
            <a:pPr>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View List of loan applications approved/accepted (waiting for interview)/rejected for a loan program.</a:t>
            </a:r>
          </a:p>
          <a:p>
            <a:pPr>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Add clients and generate his/her login credentials and delete client.</a:t>
            </a:r>
          </a:p>
        </p:txBody>
      </p:sp>
    </p:spTree>
    <p:extLst>
      <p:ext uri="{BB962C8B-B14F-4D97-AF65-F5344CB8AC3E}">
        <p14:creationId xmlns:p14="http://schemas.microsoft.com/office/powerpoint/2010/main" val="13388536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4922" y="260565"/>
            <a:ext cx="8534400" cy="1507067"/>
          </a:xfrm>
        </p:spPr>
        <p:txBody>
          <a:bodyPr/>
          <a:lstStyle/>
          <a:p>
            <a:r>
              <a:rPr lang="en-US" dirty="0">
                <a:latin typeface="Times New Roman" panose="02020603050405020304" pitchFamily="18" charset="0"/>
                <a:cs typeface="Times New Roman" panose="02020603050405020304" pitchFamily="18" charset="0"/>
              </a:rPr>
              <a:t>Admin job</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86521" y="2196490"/>
            <a:ext cx="4133850" cy="3933825"/>
          </a:xfrm>
        </p:spPr>
      </p:pic>
    </p:spTree>
    <p:extLst>
      <p:ext uri="{BB962C8B-B14F-4D97-AF65-F5344CB8AC3E}">
        <p14:creationId xmlns:p14="http://schemas.microsoft.com/office/powerpoint/2010/main" val="28438139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7159" y="129937"/>
            <a:ext cx="8621453" cy="1507067"/>
          </a:xfrm>
        </p:spPr>
        <p:txBody>
          <a:bodyPr/>
          <a:lstStyle/>
          <a:p>
            <a:r>
              <a:rPr lang="en-US" dirty="0">
                <a:latin typeface="Times New Roman" panose="02020603050405020304" pitchFamily="18" charset="0"/>
                <a:cs typeface="Times New Roman" panose="02020603050405020304" pitchFamily="18" charset="0"/>
              </a:rPr>
              <a:t>Client</a:t>
            </a:r>
          </a:p>
        </p:txBody>
      </p:sp>
      <p:sp>
        <p:nvSpPr>
          <p:cNvPr id="3" name="Content Placeholder 2"/>
          <p:cNvSpPr>
            <a:spLocks noGrp="1"/>
          </p:cNvSpPr>
          <p:nvPr>
            <p:ph idx="1"/>
          </p:nvPr>
        </p:nvSpPr>
        <p:spPr>
          <a:xfrm>
            <a:off x="597159" y="1534886"/>
            <a:ext cx="8621453" cy="3615267"/>
          </a:xfrm>
        </p:spPr>
        <p:txBody>
          <a:bodyPr>
            <a:normAutofit/>
          </a:bodyPr>
          <a:lstStyle/>
          <a:p>
            <a:pPr marL="0" indent="0">
              <a:buNone/>
            </a:pPr>
            <a:r>
              <a:rPr lang="en-US" sz="2400" dirty="0">
                <a:solidFill>
                  <a:schemeClr val="tx1"/>
                </a:solidFill>
                <a:latin typeface="Times New Roman" panose="02020603050405020304" pitchFamily="18" charset="0"/>
                <a:cs typeface="Times New Roman" panose="02020603050405020304" pitchFamily="18" charset="0"/>
              </a:rPr>
              <a:t>The Client can perform following functionalities: </a:t>
            </a:r>
          </a:p>
          <a:p>
            <a:pPr>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 Login into the system using his/her credentials. </a:t>
            </a:r>
          </a:p>
          <a:p>
            <a:pPr>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 View all loan programs offered by the home finance provider </a:t>
            </a:r>
          </a:p>
          <a:p>
            <a:pPr>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 View loan applications for a specific loan program. Accept/Reject an application on the basis of the details of the customer</a:t>
            </a:r>
          </a:p>
        </p:txBody>
      </p:sp>
    </p:spTree>
    <p:extLst>
      <p:ext uri="{BB962C8B-B14F-4D97-AF65-F5344CB8AC3E}">
        <p14:creationId xmlns:p14="http://schemas.microsoft.com/office/powerpoint/2010/main" val="528192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2914" y="204581"/>
            <a:ext cx="8534400" cy="1507067"/>
          </a:xfrm>
        </p:spPr>
        <p:txBody>
          <a:bodyPr/>
          <a:lstStyle/>
          <a:p>
            <a:r>
              <a:rPr lang="en-US" dirty="0">
                <a:latin typeface="Times New Roman" panose="02020603050405020304" pitchFamily="18" charset="0"/>
                <a:cs typeface="Times New Roman" panose="02020603050405020304" pitchFamily="18" charset="0"/>
              </a:rPr>
              <a:t>Client job</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40684" y="2166860"/>
            <a:ext cx="5838825" cy="3076575"/>
          </a:xfrm>
        </p:spPr>
      </p:pic>
    </p:spTree>
    <p:extLst>
      <p:ext uri="{BB962C8B-B14F-4D97-AF65-F5344CB8AC3E}">
        <p14:creationId xmlns:p14="http://schemas.microsoft.com/office/powerpoint/2010/main" val="12328704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2" y="0"/>
            <a:ext cx="8534400" cy="1507067"/>
          </a:xfrm>
        </p:spPr>
        <p:txBody>
          <a:bodyPr/>
          <a:lstStyle/>
          <a:p>
            <a:r>
              <a:rPr lang="en-US" dirty="0">
                <a:latin typeface="Times New Roman" panose="02020603050405020304" pitchFamily="18" charset="0"/>
                <a:cs typeface="Times New Roman" panose="02020603050405020304" pitchFamily="18" charset="0"/>
              </a:rPr>
              <a:t>Customer </a:t>
            </a:r>
          </a:p>
        </p:txBody>
      </p:sp>
      <p:sp>
        <p:nvSpPr>
          <p:cNvPr id="3" name="Content Placeholder 2"/>
          <p:cNvSpPr>
            <a:spLocks noGrp="1"/>
          </p:cNvSpPr>
          <p:nvPr>
            <p:ph idx="1"/>
          </p:nvPr>
        </p:nvSpPr>
        <p:spPr>
          <a:xfrm>
            <a:off x="684212" y="1507067"/>
            <a:ext cx="8534400" cy="3615267"/>
          </a:xfrm>
        </p:spPr>
        <p:txBody>
          <a:bodyPr>
            <a:normAutofit/>
          </a:bodyPr>
          <a:lstStyle/>
          <a:p>
            <a:pPr marL="0" indent="0">
              <a:buNone/>
            </a:pPr>
            <a:r>
              <a:rPr lang="en-US" sz="2400" dirty="0">
                <a:solidFill>
                  <a:schemeClr val="tx1"/>
                </a:solidFill>
                <a:latin typeface="Times New Roman" panose="02020603050405020304" pitchFamily="18" charset="0"/>
                <a:cs typeface="Times New Roman" panose="02020603050405020304" pitchFamily="18" charset="0"/>
              </a:rPr>
              <a:t>Customers will be able to perform following functionalities :</a:t>
            </a:r>
          </a:p>
          <a:p>
            <a:pPr>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Login into the system using his/her credentials. </a:t>
            </a:r>
          </a:p>
          <a:p>
            <a:pPr>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 View all loan programs offered by the home finance provider. </a:t>
            </a:r>
          </a:p>
          <a:p>
            <a:pPr>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Apply online for a loan program offered by the home finance provider, by filling up the application form that auto generates the application ID.</a:t>
            </a:r>
          </a:p>
          <a:p>
            <a:pPr>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 View the application status of application, based on the application ID.</a:t>
            </a:r>
          </a:p>
        </p:txBody>
      </p:sp>
    </p:spTree>
    <p:extLst>
      <p:ext uri="{BB962C8B-B14F-4D97-AF65-F5344CB8AC3E}">
        <p14:creationId xmlns:p14="http://schemas.microsoft.com/office/powerpoint/2010/main" val="21401741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3625" y="307910"/>
            <a:ext cx="8534400" cy="1199157"/>
          </a:xfrm>
        </p:spPr>
        <p:txBody>
          <a:bodyPr/>
          <a:lstStyle/>
          <a:p>
            <a:r>
              <a:rPr lang="en-US" dirty="0">
                <a:latin typeface="Times New Roman" panose="02020603050405020304" pitchFamily="18" charset="0"/>
                <a:cs typeface="Times New Roman" panose="02020603050405020304" pitchFamily="18" charset="0"/>
              </a:rPr>
              <a:t>Customer Job</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09837" y="1938337"/>
            <a:ext cx="7172325" cy="2981325"/>
          </a:xfrm>
        </p:spPr>
      </p:pic>
    </p:spTree>
    <p:extLst>
      <p:ext uri="{BB962C8B-B14F-4D97-AF65-F5344CB8AC3E}">
        <p14:creationId xmlns:p14="http://schemas.microsoft.com/office/powerpoint/2010/main" val="19462016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616" y="195943"/>
            <a:ext cx="7106850" cy="1329093"/>
          </a:xfrm>
        </p:spPr>
        <p:txBody>
          <a:bodyPr/>
          <a:lstStyle/>
          <a:p>
            <a:r>
              <a:rPr lang="en-US" dirty="0">
                <a:latin typeface="Times New Roman" panose="02020603050405020304" pitchFamily="18" charset="0"/>
                <a:cs typeface="Times New Roman" panose="02020603050405020304" pitchFamily="18" charset="0"/>
              </a:rPr>
              <a:t>Project Work Flow</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71737" y="1947862"/>
            <a:ext cx="7248525" cy="2962275"/>
          </a:xfrm>
        </p:spPr>
      </p:pic>
    </p:spTree>
    <p:extLst>
      <p:ext uri="{BB962C8B-B14F-4D97-AF65-F5344CB8AC3E}">
        <p14:creationId xmlns:p14="http://schemas.microsoft.com/office/powerpoint/2010/main" val="25475778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9608" y="136706"/>
            <a:ext cx="7386768" cy="1310431"/>
          </a:xfrm>
        </p:spPr>
        <p:txBody>
          <a:bodyPr/>
          <a:lstStyle/>
          <a:p>
            <a:r>
              <a:rPr lang="en-US" dirty="0">
                <a:latin typeface="Times New Roman" panose="02020603050405020304" pitchFamily="18" charset="0"/>
                <a:cs typeface="Times New Roman" panose="02020603050405020304" pitchFamily="18" charset="0"/>
              </a:rPr>
              <a:t>Technologies Used</a:t>
            </a:r>
          </a:p>
        </p:txBody>
      </p:sp>
      <p:sp>
        <p:nvSpPr>
          <p:cNvPr id="3" name="Content Placeholder 2"/>
          <p:cNvSpPr>
            <a:spLocks noGrp="1"/>
          </p:cNvSpPr>
          <p:nvPr>
            <p:ph idx="1"/>
          </p:nvPr>
        </p:nvSpPr>
        <p:spPr>
          <a:xfrm>
            <a:off x="469608" y="1469571"/>
            <a:ext cx="5856547" cy="3918858"/>
          </a:xfrm>
        </p:spPr>
        <p:txBody>
          <a:bodyPr>
            <a:normAutofit/>
          </a:bodyPr>
          <a:lstStyle/>
          <a:p>
            <a:pPr>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Collections Framework + Core Java</a:t>
            </a:r>
          </a:p>
          <a:p>
            <a:pPr>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log4j</a:t>
            </a:r>
          </a:p>
          <a:p>
            <a:pPr>
              <a:buFont typeface="Wingdings" panose="05000000000000000000" pitchFamily="2" charset="2"/>
              <a:buChar char="Ø"/>
            </a:pPr>
            <a:r>
              <a:rPr lang="en-US" sz="2400" dirty="0" err="1">
                <a:solidFill>
                  <a:schemeClr val="tx1"/>
                </a:solidFill>
                <a:latin typeface="Times New Roman" panose="02020603050405020304" pitchFamily="18" charset="0"/>
                <a:cs typeface="Times New Roman" panose="02020603050405020304" pitchFamily="18" charset="0"/>
              </a:rPr>
              <a:t>Junit</a:t>
            </a:r>
            <a:endParaRPr 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05240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752" y="226180"/>
            <a:ext cx="8534400" cy="1507067"/>
          </a:xfrm>
        </p:spPr>
        <p:txBody>
          <a:bodyPr/>
          <a:lstStyle/>
          <a:p>
            <a:r>
              <a:rPr lang="en-US" dirty="0">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a:xfrm>
            <a:off x="472752" y="1660849"/>
            <a:ext cx="11035037" cy="4198776"/>
          </a:xfrm>
        </p:spPr>
        <p:txBody>
          <a:bodyPr>
            <a:normAutofit/>
          </a:bodyPr>
          <a:lstStyle/>
          <a:p>
            <a:pPr algn="just">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The Loan Automation Application Software would help boost a lending institution’s customer service in many ways, and make the lending operations more efficient and transparent.</a:t>
            </a:r>
          </a:p>
          <a:p>
            <a:pPr algn="just">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 The computational speed, accuracy and storage capabilities of the computer would merge with the creativity and intuition of the human to make it all a success.</a:t>
            </a:r>
          </a:p>
          <a:p>
            <a:pPr algn="just">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The outcome provides a loan automation application that saves paper works throughout the life of the loan, and makes available its design, a guide or foundation towards creation of similar or improved systems.</a:t>
            </a:r>
          </a:p>
        </p:txBody>
      </p:sp>
    </p:spTree>
    <p:extLst>
      <p:ext uri="{BB962C8B-B14F-4D97-AF65-F5344CB8AC3E}">
        <p14:creationId xmlns:p14="http://schemas.microsoft.com/office/powerpoint/2010/main" val="35067025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E2055A-9698-4E3A-BA2C-B3FA7EE1D7EA}"/>
              </a:ext>
            </a:extLst>
          </p:cNvPr>
          <p:cNvSpPr>
            <a:spLocks noGrp="1"/>
          </p:cNvSpPr>
          <p:nvPr>
            <p:ph idx="1"/>
          </p:nvPr>
        </p:nvSpPr>
        <p:spPr>
          <a:xfrm>
            <a:off x="1828800" y="1621366"/>
            <a:ext cx="8534400" cy="3615267"/>
          </a:xfrm>
        </p:spPr>
        <p:txBody>
          <a:bodyPr>
            <a:normAutofit/>
          </a:bodyPr>
          <a:lstStyle/>
          <a:p>
            <a:pPr marL="0" indent="0" algn="ctr">
              <a:buNone/>
            </a:pPr>
            <a:r>
              <a:rPr lang="en-GB" sz="8800" dirty="0">
                <a:solidFill>
                  <a:schemeClr val="tx1"/>
                </a:solidFill>
                <a:latin typeface="Times New Roman" panose="02020603050405020304" pitchFamily="18" charset="0"/>
                <a:cs typeface="Times New Roman" panose="02020603050405020304" pitchFamily="18" charset="0"/>
              </a:rPr>
              <a:t>   THANK YOU</a:t>
            </a:r>
            <a:endParaRPr lang="en-IN" sz="8800"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8987C82-9CF1-4057-AFEE-5153B0818C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67300" y="4548479"/>
            <a:ext cx="2057400" cy="1847850"/>
          </a:xfrm>
          <a:prstGeom prst="rect">
            <a:avLst/>
          </a:prstGeom>
          <a:solidFill>
            <a:srgbClr val="FFFFFF">
              <a:shade val="85000"/>
            </a:srgbClr>
          </a:solidFill>
          <a:ln w="101600" cap="sq">
            <a:solidFill>
              <a:srgbClr val="FDFDFD"/>
            </a:solidFill>
            <a:miter lim="800000"/>
          </a:ln>
          <a:effectLst>
            <a:outerShdw blurRad="57150" dist="37500" dir="7560000" sy="98000" kx="110000" ky="200000" algn="tl" rotWithShape="0">
              <a:srgbClr val="000000">
                <a:alpha val="20000"/>
              </a:srgbClr>
            </a:outerShdw>
          </a:effectLst>
          <a:scene3d>
            <a:camera prst="perspectiveRelaxed">
              <a:rot lat="18960000" lon="0" rev="0"/>
            </a:camera>
            <a:lightRig rig="twoPt" dir="t">
              <a:rot lat="0" lon="0" rev="7200000"/>
            </a:lightRig>
          </a:scene3d>
          <a:sp3d prstMaterial="matte">
            <a:bevelT w="22860" h="12700"/>
            <a:contourClr>
              <a:srgbClr val="FFFFFF"/>
            </a:contourClr>
          </a:sp3d>
        </p:spPr>
      </p:pic>
    </p:spTree>
    <p:extLst>
      <p:ext uri="{BB962C8B-B14F-4D97-AF65-F5344CB8AC3E}">
        <p14:creationId xmlns:p14="http://schemas.microsoft.com/office/powerpoint/2010/main" val="3446009485"/>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otalTime>15</TotalTime>
  <Words>516</Words>
  <Application>Microsoft Office PowerPoint</Application>
  <PresentationFormat>Widescreen</PresentationFormat>
  <Paragraphs>54</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Century Gothic</vt:lpstr>
      <vt:lpstr>Times New Roman</vt:lpstr>
      <vt:lpstr>Wingdings</vt:lpstr>
      <vt:lpstr>Wingdings 3</vt:lpstr>
      <vt:lpstr>Slice</vt:lpstr>
      <vt:lpstr>WELCOME TO LOAN PROCESSING SYSTEM</vt:lpstr>
      <vt:lpstr>Contents</vt:lpstr>
      <vt:lpstr>Objective</vt:lpstr>
      <vt:lpstr>Problem Statement</vt:lpstr>
      <vt:lpstr>Modules</vt:lpstr>
      <vt:lpstr>Admin</vt:lpstr>
      <vt:lpstr>Admin job</vt:lpstr>
      <vt:lpstr>Client</vt:lpstr>
      <vt:lpstr>Client job</vt:lpstr>
      <vt:lpstr>Customer </vt:lpstr>
      <vt:lpstr>Customer Job</vt:lpstr>
      <vt:lpstr>Project Work Flow</vt:lpstr>
      <vt:lpstr>Technologies Used</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Anant Soni</dc:creator>
  <cp:lastModifiedBy>Anant Soni</cp:lastModifiedBy>
  <cp:revision>3</cp:revision>
  <dcterms:created xsi:type="dcterms:W3CDTF">2020-06-05T18:00:24Z</dcterms:created>
  <dcterms:modified xsi:type="dcterms:W3CDTF">2020-06-07T15:15:47Z</dcterms:modified>
</cp:coreProperties>
</file>